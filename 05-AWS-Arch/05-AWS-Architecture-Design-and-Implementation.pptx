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1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C8EA4-EEA7-903A-CDA7-9C752021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F4B9F-C8ED-BB9C-8C8A-C2B0B2FEF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672EA-4B67-AC97-AB2C-B253ED53F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68A1D-EE9C-EA8B-640E-9EEAF43DC93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043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40BB9F-4D48-439E-9B95-D4281B6E97D1}"/>
              </a:ext>
            </a:extLst>
          </p:cNvPr>
          <p:cNvSpPr>
            <a:spLocks noGrp="1"/>
          </p:cNvSpPr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A92972A-3897-492E-AA42-DDDBAD209724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AWS Architecture
Design &amp; Implementation</a:t>
            </a:r>
            <a:endParaRPr sz="4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EF2DFF-8D5D-4C31-BB0B-4F42B92CBC55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i="1">
                <a:solidFill>
                  <a:srgbClr val="00D4AA"/>
                </a:solidFill>
                <a:latin typeface="Arial"/>
                <a:ea typeface="Arial"/>
                <a:cs typeface="Arial"/>
              </a:rPr>
              <a:t>Build, deploy, optimize, design and migrate on AWS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749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One Architecture Journey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1  Secure, resilient AWS foundations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2  APIs, deployment, cache and streaming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3  Cost, performance and recovery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4  Scalable and secure design patterns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5  Migration planning and execution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0047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81647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1  AWS Architecture Foundations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A Request Crosses Several Services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REQUEST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User  ---&gt;  DNS / URL  ---&gt;  ALB  ---&gt;  EC2 app  ---&gt;  RDS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          routes       processes       stores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SUPPORT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S3  ---&gt;  static objects     IAM  ---&gt;  permissions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CloudWatch  ---&gt;  metrics and logs     KMS  ---&gt;  encryption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 •  Process  •  Store  •  Protect  •  Observe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Region, AZ and Subnet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Region — geographic deployment boundary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Availability Zone — isolated location inside a Region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Subnet — belongs to exactly one Availability Zone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Multi-AZ — distribute workload capacity across AZs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Multi-Region — a separate disaster-recovery decision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Public vs Private Is About Routing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PUBLIC ENTRY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Internet  ---&gt;  Internet Gateway  ---&gt;  public subnet  ---&gt;  ALB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PRIVATE TIERS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ALB  ---&gt;  app security group  ---&gt;  application tier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App  ---&gt;  database security group  ---&gt;  database tier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Expose only the entry point; restrict every downstream hop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Resilience Is Designed Per Tier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Compute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Two replaceable instances across AZs behind an ALB.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Capacity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Auto Scaling restores health and adjusts capacity.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Database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RDS Multi-AZ maintains a standby for failover.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State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S3, a database or cache keeps state outside instances.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Three Different Design Decisions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A resilient workload answers all three questions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AVAILABLE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the service continue when a component or one AZ fails?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SCALABLE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capacity grow and shrink with demand?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data and service be restored after a larger failure?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14549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386149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2  APIs &amp; Deployment Strategies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How a Serverless API Request Flows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REQUEST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Client  ---&gt;  API route  ---&gt;  auth / validation  ---&gt;  Lambda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                                invokes code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DEPENDENCIES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Lambda  ---&gt;  database / queue / cache / service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Lambda  ---&gt;  CloudWatch Logs  ---&gt;  response to client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Gateway manages the API; Lambda executes the code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A4D2D-B309-6B18-CC7A-B14682E0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BB335372-BFF0-F670-87CE-DE803624777B}"/>
              </a:ext>
            </a:extLst>
          </p:cNvPr>
          <p:cNvSpPr txBox="1"/>
          <p:nvPr/>
        </p:nvSpPr>
        <p:spPr>
          <a:xfrm>
            <a:off x="457201" y="274321"/>
            <a:ext cx="9786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2800" b="1" dirty="0"/>
              <a:t>API Architecture on AWS</a:t>
            </a:r>
            <a:endParaRPr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6FCAD-ECCA-5C42-34A0-1B9AE4AF72CD}"/>
              </a:ext>
            </a:extLst>
          </p:cNvPr>
          <p:cNvSpPr txBox="1"/>
          <p:nvPr/>
        </p:nvSpPr>
        <p:spPr>
          <a:xfrm>
            <a:off x="533401" y="919206"/>
            <a:ext cx="2601686" cy="3433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IN" sz="1400" b="1" dirty="0"/>
              <a:t>ALB -&gt; EKS/ECS/EC2 -&gt; RDS / DynamoDB</a:t>
            </a:r>
          </a:p>
          <a:p>
            <a:pPr marL="342900" indent="-342900">
              <a:buAutoNum type="arabicParenR"/>
            </a:pPr>
            <a:endParaRPr lang="en-IN" sz="1100" b="1" dirty="0"/>
          </a:p>
          <a:p>
            <a:pPr>
              <a:lnSpc>
                <a:spcPct val="150000"/>
              </a:lnSpc>
            </a:pPr>
            <a:r>
              <a:rPr lang="en-IN" sz="1200" dirty="0"/>
              <a:t>Client -&gt; ALB -&gt; EKS / ECS tasks / EC2 -&gt; RDS / DynamoDB</a:t>
            </a:r>
          </a:p>
          <a:p>
            <a:pPr>
              <a:lnSpc>
                <a:spcPct val="150000"/>
              </a:lnSpc>
            </a:pPr>
            <a:endParaRPr lang="en-IN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Characteristics</a:t>
            </a:r>
            <a:endParaRPr lang="en-US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Path or host-based routing (ALB)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Works natively with container workloads (ECS/EKS)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Sticky sessions, WAF, and built-in auth (ALB)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Fully API-driven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7C55E-BB1E-EF28-4071-C89D620E29A3}"/>
              </a:ext>
            </a:extLst>
          </p:cNvPr>
          <p:cNvSpPr txBox="1"/>
          <p:nvPr/>
        </p:nvSpPr>
        <p:spPr>
          <a:xfrm>
            <a:off x="3529528" y="919206"/>
            <a:ext cx="2411518" cy="340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2) API Gateway -&gt; Lambda (Serverless pattern)</a:t>
            </a:r>
          </a:p>
          <a:p>
            <a:endParaRPr lang="en-IN" sz="900" dirty="0"/>
          </a:p>
          <a:p>
            <a:pPr>
              <a:lnSpc>
                <a:spcPct val="150000"/>
              </a:lnSpc>
            </a:pPr>
            <a:r>
              <a:rPr lang="en-IN" sz="1200" dirty="0"/>
              <a:t>Client -&gt; API Gateway -&gt; Lambda -&gt; DB/Services</a:t>
            </a:r>
          </a:p>
          <a:p>
            <a:pPr>
              <a:lnSpc>
                <a:spcPct val="150000"/>
              </a:lnSpc>
            </a:pPr>
            <a:endParaRPr lang="en-IN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Characteristics</a:t>
            </a:r>
            <a:endParaRPr lang="en-US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Fully serverless, no infra to manage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Built-in throttling, auth, request/response transforms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Pay-per-invocation billing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23F051-1C0A-03EB-E9B2-C92772281199}"/>
              </a:ext>
            </a:extLst>
          </p:cNvPr>
          <p:cNvSpPr txBox="1"/>
          <p:nvPr/>
        </p:nvSpPr>
        <p:spPr>
          <a:xfrm>
            <a:off x="6267118" y="915847"/>
            <a:ext cx="2754417" cy="4234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3) API Gateway -&gt; ALB / NLB -&gt; EC2 / ECS / EKS</a:t>
            </a:r>
          </a:p>
          <a:p>
            <a:endParaRPr lang="en-IN" sz="900" b="1" dirty="0"/>
          </a:p>
          <a:p>
            <a:pPr>
              <a:lnSpc>
                <a:spcPct val="150000"/>
              </a:lnSpc>
            </a:pPr>
            <a:r>
              <a:rPr lang="en-IN" sz="1200" dirty="0"/>
              <a:t>Client -&gt; API Gateway (Rest API) -&gt; ALB/NLB -&gt; EC2 / ECS / EKS -&gt; DB</a:t>
            </a:r>
          </a:p>
          <a:p>
            <a:pPr>
              <a:lnSpc>
                <a:spcPct val="150000"/>
              </a:lnSpc>
            </a:pPr>
            <a:endParaRPr lang="en-IN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Characteristics</a:t>
            </a:r>
            <a:endParaRPr lang="en-US" sz="1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API Gateway stays the public entry (auth, throttling, analytics)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ALB / NLB perform the actual service routing inside VPC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Combine API Gateway features (authorization, stages, throttling) with LBs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Keep backend services private (not exposed directly)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63046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Choose the API Type by Interaction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HTTP API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Simple, lower-cost HTTP endpoints and Lambda proxies.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REST API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Broader API-management features when they are required.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WebSocket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Persistent two-way communication with connected clients.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No API Gateway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Events and AWS services can invoke Lambda directly.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Lambda Has Runtime Decisions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Handler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receives an event and returns a result</a:t>
            </a:r>
            <a:endParaRPr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Execution role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grants access to required AWS services</a:t>
            </a:r>
            <a:endParaRPr sz="1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Memory and timeout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shape performance and cost</a:t>
            </a:r>
            <a:endParaRPr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Concurrency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protects capacity and downstream systems</a:t>
            </a:r>
            <a:endParaRPr sz="14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Logs and secrets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observe externally; store secrets safely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Release Strategy Controls Risk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Rolling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Replace capacity in batches; old and new versions coexist.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Blue/green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Switch environments for isolation and fast rollback.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Canary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Send limited traffic first and expand only on evidence.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All-at-once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Fast and simple, with the largest blast radius.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 Safe Release Uses Evidence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Define success metrics and a rollback threshold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Deploy the new version with backward-compatible changes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Send limited traffic to the new version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Observe errors, latency and business metrics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Promote while healthy—or roll back quickly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0047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81647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3  Optimization &amp; Recovery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Optimize Against Requirements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Latency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response time and throughput do users require?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Demand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Is traffic steady, predictable or sharply variable?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much data loss and downtime are acceptable?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Cost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expense supports a requirement—and which does not?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Optimize Cost Continuously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550126"/>
            <a:ext cx="7863840" cy="261039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MEASURE  ---&gt;  ATTRIBUTE  ---&gt;  RECOMMEND</a:t>
            </a: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Cost Explorer       tags / accounts       Optimizer / Advisor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IN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IN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VALIDATE  ---&gt;  CHANGE  ---&gt;  MEASURE AGAIN</a:t>
            </a: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workload context       controlled action       confirm outcome</a:t>
            </a:r>
            <a:endParaRPr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recommendation is evidence to review</a:t>
            </a:r>
            <a:r>
              <a:rPr lang="en-IN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 automatic decision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Match Pricing to Workload Behavior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On-Demand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New, variable or short-lived workloads without commitment.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Savings Plans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Commit predictable compute usage with plan flexibility.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Reserved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Stable EC2 or RDS usage when attributes are understood.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Spot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Interruptible, fault-tolerant work that can resume safely.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Performance Has Three Main Levers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Reduce repeated work, move work closer, and add capacity safely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EDGE CACHE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CloudFront places cached content closer to users and reduces origin work.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 CACHE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ElastiCache reduces latency and repeated database reads; misses use the source.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941717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 dirty="0">
                <a:solidFill>
                  <a:srgbClr val="1B2559"/>
                </a:solidFill>
                <a:latin typeface="Arial"/>
                <a:ea typeface="Arial"/>
                <a:cs typeface="Arial"/>
              </a:rPr>
              <a:t>COMPUTE SCALE</a:t>
            </a:r>
            <a:endParaRPr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ASG or Lambda adds capacity, while downstream limits still apply.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Four Recovery Questions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RPO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much data loss, measured in time, is acceptable?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RTO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long may the workload remain unavailable?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Backup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Is there a retained recovery point separate from active data?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High availability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service continue through expected component failures?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 Controls Must Be Tested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EBS snapshot / AMI — point-in-time storage or launch image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RDS backup — point-in-time restore to a new database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S3 versioning — recover previous object versions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Cross-Region copy — maintain a separate regional recovery copy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AWS Backup — policy, vault, copy and restore testing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62298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333898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4  Designing AWS Architecture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Requirements Before Services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Users — locations, access channels and latency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Load — normal demand, peak demand and expected growth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Availability — target, failure scope, RPO and RTO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— consistency, retention, sensitivity and compliance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Constraints — team skills, delivery speed and cost boundary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Four Principles Enable Change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Stateless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Keep durable state outside replaceable compute instances.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Loosely coupled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 queues or events to isolate temporary failures.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Horizontal scale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Add replaceable workers and watch the next bottleneck.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Managed deliberately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Reduce infrastructure work without ignoring design duties.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Security Works in Layers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Identity — IAM roles and least-privilege policies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Network — VPC, subnets, security groups and endpoints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— KMS-backed encryption and TLS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Secrets — Secrets Manager or Parameter Store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Detection — CloudTrail, CloudWatch and security services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Patterns Fit Different Constraints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Serverless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CloudFront, API Gateway, Lambda and managed data services.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Three-tier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ALB, scalable compute and RDS Multi-AZ across two AZs.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Event-driven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Independent consumers connected through queues or events.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Hybrid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On-premises systems connected to AWS during phased change.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67C80B-65B3-4ED1-93DD-6E0CEE774D7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Challenge the Design, Then Review It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8EA48F-A975-4484-9123-309A4EEFEB7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2CAFA1-1C0F-4276-86A9-8166630BCA8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2F1FDA-ABD7-4444-8190-01A68DB49DC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&amp; Scale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7D63E-3E8D-439C-AFC9-349B2C1C914D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fails with one AZ?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Where is state stored?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becomes the next bottleneck?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683419-885E-4C8A-BEE0-09FA77BF4D42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90AFF7-7138-4DDF-B66B-A6F92E14E791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00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B9A6C9-5DBC-4804-811D-851343207CCE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&amp; Operations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56A9AD-36A7-49A5-B723-F429A57D5A97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identity can access each resource?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is deleted data restored?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Well-Architected pillar needs work?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60465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57796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29396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5  Migration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Migration Is a Lifecycle, Not a Copy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ASSESS  ---&gt;  MOBILIZE  ---&gt;  MIGRATE &amp; MODERNIZE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inventory          landing zone          execute waves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dependencies       security / network    test and cut over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OPERATE &amp; OPTIMIZE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monitor  ---&gt;  right-size  ---&gt;  modernize further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 replication is one task inside a business migration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The 7 Rs Express Different Outcomes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Remove or Move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Retire — remove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Retain — keep for now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Rehost — move with minimal change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Relocate — move the platform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the Solution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Replatform — change platform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Repurchase — replace with product or SaaS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Refactor — redesign the architecture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Choose the Tool by What Is Moving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Servers — AWS Transform MGN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Databases — AWS Database Migration Service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Online files or objects — AWS DataSync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Large offline datasets — AWS Snow Family where suitable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Assessment and modernization — AWS Transform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Build Waves from Dependencies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DISCOVER  ---&gt;  GROUP APPS  ---&gt;  BUILD WAVES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owners / dependencies     strategy / tools       pilot first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TEST  ---&gt;  CUT OVER  ---&gt;  VALIDATE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non-disruptive      traffic / DNS       technical + business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low-risk pilot proves the process before critical workloads move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Validate Cutover and Rollback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Dependencies and service health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User login and business transaction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reconciliation, logs and alarms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Application-owner sign-off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Rollback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Trigger and decision owner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Latest safe rollback time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Traffic and DNS reversal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Plan for target-side writes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Make Every Trade-off Explicit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Requirements first; services second; evidence always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DESIGN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Connect availability, security, performance and cost to requirements.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OPERATE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Monitor outcomes, test recovery and improve continuously.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CHANGE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Deploy and migrate in small, observable and reversible steps.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1495</Words>
  <Application>Microsoft Office PowerPoint</Application>
  <DocSecurity>0</DocSecurity>
  <PresentationFormat>On-screen Show (16:9)</PresentationFormat>
  <Paragraphs>274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Aryan Mohan</cp:lastModifiedBy>
  <cp:revision>6</cp:revision>
  <dcterms:created xsi:type="dcterms:W3CDTF">2026-08-16T16:56:15Z</dcterms:created>
  <dcterms:modified xsi:type="dcterms:W3CDTF">2026-09-05T04:35:40Z</dcterms:modified>
</cp:coreProperties>
</file>